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4"/>
  </p:notesMasterIdLst>
  <p:sldIdLst>
    <p:sldId id="256" r:id="rId2"/>
    <p:sldId id="283" r:id="rId3"/>
    <p:sldId id="257" r:id="rId4"/>
    <p:sldId id="258" r:id="rId5"/>
    <p:sldId id="259" r:id="rId6"/>
    <p:sldId id="278" r:id="rId7"/>
    <p:sldId id="276" r:id="rId8"/>
    <p:sldId id="279" r:id="rId9"/>
    <p:sldId id="280" r:id="rId10"/>
    <p:sldId id="284" r:id="rId11"/>
    <p:sldId id="281" r:id="rId12"/>
    <p:sldId id="282" r:id="rId13"/>
  </p:sldIdLst>
  <p:sldSz cx="9144000" cy="6858000" type="screen4x3"/>
  <p:notesSz cx="6858000" cy="9144000"/>
  <p:embeddedFontLst>
    <p:embeddedFont>
      <p:font typeface="Open Sans ExtraBold" panose="020B0906030804020204" pitchFamily="34" charset="0"/>
      <p:bold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shithaa BK Akshithaa BK" initials="AA" lastIdx="2" clrIdx="0">
    <p:extLst>
      <p:ext uri="{19B8F6BF-5375-455C-9EA6-DF929625EA0E}">
        <p15:presenceInfo xmlns:p15="http://schemas.microsoft.com/office/powerpoint/2012/main" userId="c3f7547876b24a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60" autoAdjust="0"/>
    <p:restoredTop sz="94660"/>
  </p:normalViewPr>
  <p:slideViewPr>
    <p:cSldViewPr snapToGrid="0">
      <p:cViewPr varScale="1">
        <p:scale>
          <a:sx n="62" d="100"/>
          <a:sy n="62" d="100"/>
        </p:scale>
        <p:origin x="696" y="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4322209"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210701057– Divya </a:t>
              </a:r>
              <a:r>
                <a:rPr lang="en-IN" sz="2000" b="1" i="0" u="none" strike="noStrike" cap="none" dirty="0" err="1">
                  <a:solidFill>
                    <a:schemeClr val="dk1"/>
                  </a:solidFill>
                  <a:latin typeface="Calibri"/>
                  <a:ea typeface="Calibri"/>
                  <a:cs typeface="Calibri"/>
                  <a:sym typeface="Calibri"/>
                </a:rPr>
                <a:t>sri</a:t>
              </a:r>
              <a:r>
                <a:rPr lang="en-IN" sz="2000" b="1" i="0" u="none" strike="noStrike" cap="none" dirty="0">
                  <a:solidFill>
                    <a:schemeClr val="dk1"/>
                  </a:solidFill>
                  <a:latin typeface="Calibri"/>
                  <a:ea typeface="Calibri"/>
                  <a:cs typeface="Calibri"/>
                  <a:sym typeface="Calibri"/>
                </a:rPr>
                <a:t> S J</a:t>
              </a:r>
            </a:p>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210701060 – </a:t>
              </a:r>
              <a:r>
                <a:rPr lang="en-IN" sz="2000" b="1" dirty="0">
                  <a:solidFill>
                    <a:schemeClr val="dk1"/>
                  </a:solidFill>
                  <a:latin typeface="Calibri"/>
                  <a:ea typeface="Calibri"/>
                  <a:cs typeface="Calibri"/>
                  <a:sym typeface="Calibri"/>
                </a:rPr>
                <a:t>Gayathri Priya J</a:t>
              </a:r>
              <a:endParaRPr dirty="0"/>
            </a:p>
            <a:p>
              <a:pPr marL="0" marR="0" lvl="0" indent="0" algn="l" rtl="0">
                <a:spcBef>
                  <a:spcPts val="0"/>
                </a:spcBef>
                <a:spcAft>
                  <a:spcPts val="0"/>
                </a:spcAft>
                <a:buNone/>
              </a:pPr>
              <a:r>
                <a:rPr lang="en-IN" sz="2000" b="1" dirty="0" err="1">
                  <a:solidFill>
                    <a:schemeClr val="dk1"/>
                  </a:solidFill>
                  <a:latin typeface="Calibri"/>
                  <a:ea typeface="Calibri" panose="020F0502020204030204" pitchFamily="34" charset="0"/>
                  <a:cs typeface="Calibri"/>
                  <a:sym typeface="Calibri"/>
                </a:rPr>
                <a:t>Dr.T.Kumaragurubaran</a:t>
              </a:r>
              <a:endParaRPr lang="en-IN" sz="2000" b="1" dirty="0">
                <a:solidFill>
                  <a:schemeClr val="dk1"/>
                </a:solidFill>
                <a:latin typeface="Calibri"/>
                <a:ea typeface="Calibri" panose="020F0502020204030204" pitchFamily="34" charset="0"/>
                <a:cs typeface="Calibri"/>
                <a:sym typeface="Calibri"/>
              </a:endParaRPr>
            </a:p>
            <a:p>
              <a:pPr marL="0" marR="0" lvl="0" indent="0" algn="l" rtl="0">
                <a:spcBef>
                  <a:spcPts val="0"/>
                </a:spcBef>
                <a:spcAft>
                  <a:spcPts val="0"/>
                </a:spcAft>
                <a:buNone/>
              </a:pPr>
              <a:r>
                <a:rPr lang="en-IN" sz="2000" b="1" dirty="0">
                  <a:solidFill>
                    <a:schemeClr val="dk1"/>
                  </a:solidFill>
                  <a:effectLst/>
                  <a:latin typeface="Calibri"/>
                  <a:ea typeface="Calibri" panose="020F0502020204030204" pitchFamily="34" charset="0"/>
                  <a:cs typeface="Calibri"/>
                  <a:sym typeface="Calibri"/>
                </a:rPr>
                <a:t>Computer Science and Engineering Department - REC</a:t>
              </a:r>
            </a:p>
          </p:txBody>
        </p:sp>
        <p:grpSp>
          <p:nvGrpSpPr>
            <p:cNvPr id="91" name="Google Shape;91;p13"/>
            <p:cNvGrpSpPr/>
            <p:nvPr/>
          </p:nvGrpSpPr>
          <p:grpSpPr>
            <a:xfrm>
              <a:off x="-14748" y="986564"/>
              <a:ext cx="9158748" cy="3668844"/>
              <a:chOff x="-14748" y="986564"/>
              <a:chExt cx="9158748" cy="3668844"/>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041756"/>
                  <a:ext cx="4181886" cy="101562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dirty="0">
                      <a:solidFill>
                        <a:schemeClr val="lt1"/>
                      </a:solidFill>
                      <a:latin typeface="Calibri"/>
                      <a:ea typeface="Calibri"/>
                      <a:cs typeface="Calibri"/>
                      <a:sym typeface="Calibri"/>
                    </a:rPr>
                    <a:t>Professional Readiness for Innovation, Employability and Entrepreneurship</a:t>
                  </a:r>
                  <a:endParaRPr dirty="0"/>
                </a:p>
              </p:txBody>
            </p:sp>
          </p:grpSp>
          <p:sp>
            <p:nvSpPr>
              <p:cNvPr id="97" name="Google Shape;97;p13"/>
              <p:cNvSpPr txBox="1"/>
              <p:nvPr/>
            </p:nvSpPr>
            <p:spPr>
              <a:xfrm>
                <a:off x="177781" y="2100903"/>
                <a:ext cx="4960275"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chemeClr val="lt1"/>
                    </a:solidFill>
                    <a:latin typeface="Calibri"/>
                    <a:ea typeface="Calibri"/>
                    <a:cs typeface="Calibri"/>
                    <a:sym typeface="Calibri"/>
                  </a:rPr>
                  <a:t>GOVERNMENT SCHEMES RECOMMENDATION CHATBOT</a:t>
                </a:r>
                <a:endParaRPr sz="4000"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6725512" y="4812105"/>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A0CD-C5D9-E1CA-AAB5-B7A8A6ADAD0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3E9D9E23-75AF-F09C-6716-2DB9D2E0DAC4}"/>
              </a:ext>
            </a:extLst>
          </p:cNvPr>
          <p:cNvSpPr>
            <a:spLocks noGrp="1"/>
          </p:cNvSpPr>
          <p:nvPr>
            <p:ph type="body" idx="1"/>
          </p:nvPr>
        </p:nvSpPr>
        <p:spPr/>
        <p:txBody>
          <a:bodyPr>
            <a:normAutofit/>
          </a:bodyPr>
          <a:lstStyle/>
          <a:p>
            <a:pPr algn="just"/>
            <a:r>
              <a:rPr lang="en-IN" sz="3200" dirty="0">
                <a:latin typeface="Times New Roman" panose="02020603050405020304" pitchFamily="18" charset="0"/>
                <a:cs typeface="Times New Roman" panose="02020603050405020304" pitchFamily="18" charset="0"/>
              </a:rPr>
              <a:t>How can we create a chatbot that can provide reliable and relevant information about various government schemes to the </a:t>
            </a:r>
            <a:r>
              <a:rPr lang="en-IN" sz="3200" dirty="0" err="1">
                <a:latin typeface="Times New Roman" panose="02020603050405020304" pitchFamily="18" charset="0"/>
                <a:cs typeface="Times New Roman" panose="02020603050405020304" pitchFamily="18" charset="0"/>
              </a:rPr>
              <a:t>citizens,and</a:t>
            </a:r>
            <a:r>
              <a:rPr lang="en-IN" sz="3200" dirty="0">
                <a:latin typeface="Times New Roman" panose="02020603050405020304" pitchFamily="18" charset="0"/>
                <a:cs typeface="Times New Roman" panose="02020603050405020304" pitchFamily="18" charset="0"/>
              </a:rPr>
              <a:t> help them identify their eligibility criteria for different programs</a:t>
            </a:r>
          </a:p>
        </p:txBody>
      </p:sp>
    </p:spTree>
    <p:extLst>
      <p:ext uri="{BB962C8B-B14F-4D97-AF65-F5344CB8AC3E}">
        <p14:creationId xmlns:p14="http://schemas.microsoft.com/office/powerpoint/2010/main" val="1365453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Abstract</a:t>
            </a:r>
            <a:endParaRPr sz="5400" b="1" dirty="0">
              <a:latin typeface="Calibri"/>
              <a:ea typeface="Calibri"/>
              <a:cs typeface="Calibri"/>
              <a:sym typeface="Calibri"/>
            </a:endParaRPr>
          </a:p>
        </p:txBody>
      </p:sp>
      <p:sp>
        <p:nvSpPr>
          <p:cNvPr id="106" name="Google Shape;106;p14"/>
          <p:cNvSpPr txBox="1">
            <a:spLocks noGrp="1"/>
          </p:cNvSpPr>
          <p:nvPr>
            <p:ph type="body" idx="1"/>
          </p:nvPr>
        </p:nvSpPr>
        <p:spPr>
          <a:xfrm>
            <a:off x="190500" y="1055914"/>
            <a:ext cx="8763000" cy="5334000"/>
          </a:xfrm>
          <a:prstGeom prst="rect">
            <a:avLst/>
          </a:prstGeom>
          <a:noFill/>
          <a:ln>
            <a:noFill/>
          </a:ln>
        </p:spPr>
        <p:txBody>
          <a:bodyPr spcFirstLastPara="1" wrap="square" lIns="91425" tIns="45700" rIns="91425" bIns="45700" anchor="t" anchorCtr="0">
            <a:normAutofit/>
          </a:bodyPr>
          <a:lstStyle/>
          <a:p>
            <a:pPr marL="0" lvl="0" indent="0" algn="just">
              <a:spcBef>
                <a:spcPts val="0"/>
              </a:spcBef>
              <a:buNone/>
            </a:pPr>
            <a:r>
              <a:rPr lang="en-US" dirty="0">
                <a:effectLst/>
                <a:latin typeface="Times New Roman" panose="02020603050405020304" pitchFamily="18" charset="0"/>
                <a:ea typeface="Times New Roman" panose="02020603050405020304" pitchFamily="18" charset="0"/>
              </a:rPr>
              <a:t>The "Government Scheme Recommendation Chatbot" is an innovative project aimed at enhancing the accessibility and awareness of various government schemes available to citizens in India.</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 chatbot is designed to cater to diverse user groups, including farmers, students, women, differently-abled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individuals,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more,</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offering</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detailed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information about</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relevant</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schemes,</a:t>
            </a:r>
            <a:r>
              <a:rPr lang="en-US" spc="-3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eligibility</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criteria,</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benefits.</a:t>
            </a:r>
            <a:r>
              <a:rPr lang="en-US" spc="-3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However, the dissemination of information about these 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their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specific</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details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remains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challenge.</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Many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citizens, especially those in rural and underserved areas, are unaware of the 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qualify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for.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This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project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addresses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this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gap</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providing an interactive platform where users can easily access information about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various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government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tailored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to</a:t>
            </a:r>
            <a:r>
              <a:rPr lang="en-US" spc="-9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their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needs.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latin typeface="Calibri"/>
                <a:ea typeface="Calibri"/>
                <a:cs typeface="Calibri"/>
                <a:sym typeface="Calibri"/>
              </a:rPr>
              <a:t>Existing System</a:t>
            </a:r>
            <a:endParaRPr sz="5400" b="1" dirty="0">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lgn="just">
              <a:spcBef>
                <a:spcPts val="0"/>
              </a:spcBef>
            </a:pPr>
            <a:r>
              <a:rPr lang="en-US" sz="2200" dirty="0">
                <a:effectLst/>
                <a:latin typeface="Times New Roman" panose="02020603050405020304" pitchFamily="18" charset="0"/>
                <a:ea typeface="Times New Roman" panose="02020603050405020304" pitchFamily="18" charset="0"/>
              </a:rPr>
              <a:t>In</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the</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current</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landscape,</a:t>
            </a:r>
            <a:r>
              <a:rPr lang="en-US" sz="2200" spc="-1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several</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systems</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and methods</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t>
            </a:r>
            <a:r>
              <a:rPr lang="en-US" sz="2200" spc="-2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utilized</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 disseminate information about government schemes to the public. These methods include traditional media (such as newspapers, television, and radio), official government websites, public service announcements, community outreach programs, and physical information centers. Each of these approaches has its own set of advantages and </a:t>
            </a:r>
            <a:r>
              <a:rPr lang="en-US" sz="2200" dirty="0" err="1">
                <a:effectLst/>
                <a:latin typeface="Times New Roman" panose="02020603050405020304" pitchFamily="18" charset="0"/>
                <a:ea typeface="Times New Roman" panose="02020603050405020304" pitchFamily="18" charset="0"/>
              </a:rPr>
              <a:t>limitations.Traditional</a:t>
            </a:r>
            <a:r>
              <a:rPr lang="en-US" sz="2200" dirty="0">
                <a:effectLst/>
                <a:latin typeface="Times New Roman" panose="02020603050405020304" pitchFamily="18" charset="0"/>
                <a:ea typeface="Times New Roman" panose="02020603050405020304" pitchFamily="18" charset="0"/>
              </a:rPr>
              <a:t> media remains a prominent source of information dissemination. Newspapers, television, and radio</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commonly</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used</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announce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new</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schemes,</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provide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updates, and educate the public about various government initiatives. While these channels can reach a broad audience,</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they often fail to provide detailed, personalized information. Additionally, traditional media may</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not</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be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effective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in</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rural</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and</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remote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where</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access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such resources is limited.</a:t>
            </a:r>
            <a:endParaRPr lang="en-IN" sz="2200" dirty="0">
              <a:effectLst/>
              <a:latin typeface="Times New Roman" panose="02020603050405020304" pitchFamily="18" charset="0"/>
              <a:ea typeface="Times New Roman" panose="02020603050405020304" pitchFamily="18" charset="0"/>
            </a:endParaRPr>
          </a:p>
          <a:p>
            <a:pPr marL="342900" lvl="0" indent="-342900" algn="just">
              <a:spcBef>
                <a:spcPts val="0"/>
              </a:spcBef>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Proposed System</a:t>
            </a:r>
            <a:endParaRPr sz="5400" b="1" dirty="0">
              <a:latin typeface="Calibri"/>
              <a:ea typeface="Calibri"/>
              <a:cs typeface="Calibri"/>
              <a:sym typeface="Calibri"/>
            </a:endParaRPr>
          </a:p>
        </p:txBody>
      </p:sp>
      <p:sp>
        <p:nvSpPr>
          <p:cNvPr id="2" name="TextBox 1">
            <a:extLst>
              <a:ext uri="{FF2B5EF4-FFF2-40B4-BE49-F238E27FC236}">
                <a16:creationId xmlns:a16="http://schemas.microsoft.com/office/drawing/2014/main" id="{9CD2F3B8-94FD-B68F-8B46-130F05EB0102}"/>
              </a:ext>
            </a:extLst>
          </p:cNvPr>
          <p:cNvSpPr txBox="1"/>
          <p:nvPr/>
        </p:nvSpPr>
        <p:spPr>
          <a:xfrm>
            <a:off x="369870" y="1078787"/>
            <a:ext cx="8583630" cy="6863417"/>
          </a:xfrm>
          <a:prstGeom prst="rect">
            <a:avLst/>
          </a:prstGeom>
          <a:noFill/>
        </p:spPr>
        <p:txBody>
          <a:bodyPr wrap="square" rtlCol="0">
            <a:spAutoFit/>
          </a:bodyPr>
          <a:lstStyle/>
          <a:p>
            <a:pPr marL="422910" marR="141605" indent="202565" algn="just">
              <a:lnSpc>
                <a:spcPct val="150000"/>
              </a:lnSpc>
              <a:spcBef>
                <a:spcPts val="920"/>
              </a:spcBef>
              <a:spcAft>
                <a:spcPts val="0"/>
              </a:spcAft>
            </a:pPr>
            <a:r>
              <a:rPr lang="en-US" sz="2000" dirty="0">
                <a:effectLst/>
                <a:latin typeface="Times New Roman" panose="02020603050405020304" pitchFamily="18" charset="0"/>
                <a:ea typeface="Times New Roman" panose="02020603050405020304" pitchFamily="18" charset="0"/>
              </a:rPr>
              <a:t>The</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proposed</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"Government</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Scheme</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Recommendation</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Chatbot"</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aims to address the limitations of the existing systems by leveraging advanced technologies to provide an interactive, accessible, and personalized information dissemination platform. The system will include a user-friendly graphical user interface (GUI) to facilitate seamless interaction. The system will feature a GUI developed using the </a:t>
            </a:r>
            <a:r>
              <a:rPr lang="en-US" sz="2000" dirty="0" err="1">
                <a:effectLst/>
                <a:latin typeface="Times New Roman" panose="02020603050405020304" pitchFamily="18" charset="0"/>
                <a:ea typeface="Times New Roman" panose="02020603050405020304" pitchFamily="18" charset="0"/>
              </a:rPr>
              <a:t>Tkinter</a:t>
            </a:r>
            <a:r>
              <a:rPr lang="en-US" sz="2000" dirty="0">
                <a:effectLst/>
                <a:latin typeface="Times New Roman" panose="02020603050405020304" pitchFamily="18" charset="0"/>
                <a:ea typeface="Times New Roman" panose="02020603050405020304" pitchFamily="18" charset="0"/>
              </a:rPr>
              <a:t> library in Python. The interface will be designed to be intuitive and easy to navigate, ensuring that users can interact with the chatbot </a:t>
            </a:r>
            <a:r>
              <a:rPr lang="en-US" sz="2000" spc="-10" dirty="0">
                <a:effectLst/>
                <a:latin typeface="Times New Roman" panose="02020603050405020304" pitchFamily="18" charset="0"/>
                <a:ea typeface="Times New Roman" panose="02020603050405020304" pitchFamily="18" charset="0"/>
              </a:rPr>
              <a:t>effortlessly.</a:t>
            </a:r>
            <a:r>
              <a:rPr lang="en-US" sz="2000" dirty="0">
                <a:effectLst/>
                <a:latin typeface="Times New Roman" panose="02020603050405020304" pitchFamily="18" charset="0"/>
                <a:ea typeface="Times New Roman" panose="02020603050405020304" pitchFamily="18" charset="0"/>
              </a:rPr>
              <a:t> The chatbot provides instant responses to user queries, significantly reducing the time and effort required to find relevant information compared to traditional methods.</a:t>
            </a:r>
            <a:endParaRPr lang="en-IN" sz="2000" dirty="0">
              <a:effectLst/>
              <a:latin typeface="Times New Roman" panose="02020603050405020304" pitchFamily="18" charset="0"/>
              <a:ea typeface="Times New Roman" panose="02020603050405020304" pitchFamily="18" charset="0"/>
            </a:endParaRPr>
          </a:p>
          <a:p>
            <a:pPr marL="76200" indent="0">
              <a:spcBef>
                <a:spcPts val="920"/>
              </a:spcBef>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422910" marR="138430" algn="just">
              <a:lnSpc>
                <a:spcPct val="150000"/>
              </a:lnSpc>
              <a:spcBef>
                <a:spcPts val="295"/>
              </a:spcBef>
            </a:pPr>
            <a:endParaRPr lang="en-IN" sz="2000" dirty="0">
              <a:effectLst/>
              <a:latin typeface="Times New Roman" panose="02020603050405020304" pitchFamily="18" charset="0"/>
              <a:ea typeface="Times New Roman" panose="02020603050405020304" pitchFamily="18" charset="0"/>
            </a:endParaRPr>
          </a:p>
          <a:p>
            <a:pPr marL="422910" marR="138430" algn="just">
              <a:lnSpc>
                <a:spcPct val="150000"/>
              </a:lnSpc>
              <a:spcBef>
                <a:spcPts val="295"/>
              </a:spcBef>
              <a:spcAft>
                <a:spcPts val="0"/>
              </a:spcAft>
            </a:pPr>
            <a:endParaRPr lang="en-IN" sz="2000" dirty="0">
              <a:effectLst/>
              <a:latin typeface="Times New Roman" panose="02020603050405020304" pitchFamily="18" charset="0"/>
              <a:ea typeface="Times New Roman" panose="02020603050405020304" pitchFamily="18" charset="0"/>
            </a:endParaRPr>
          </a:p>
          <a:p>
            <a:pPr marL="76200" indent="0">
              <a:spcBef>
                <a:spcPts val="920"/>
              </a:spcBef>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342900" indent="-342900" algn="just">
              <a:spcBef>
                <a:spcPts val="0"/>
              </a:spcBef>
            </a:pP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EEA6-04DC-4E23-AEF5-4A6F0A9FF57F}"/>
              </a:ext>
            </a:extLst>
          </p:cNvPr>
          <p:cNvSpPr>
            <a:spLocks noGrp="1"/>
          </p:cNvSpPr>
          <p:nvPr>
            <p:ph type="title"/>
          </p:nvPr>
        </p:nvSpPr>
        <p:spPr/>
        <p:txBody>
          <a:bodyPr>
            <a:noAutofit/>
          </a:bodyPr>
          <a:lstStyle/>
          <a:p>
            <a:r>
              <a:rPr lang="en-US" sz="5400" b="1" dirty="0"/>
              <a:t>Architecture Diagram</a:t>
            </a:r>
            <a:endParaRPr lang="en-IN" sz="5400" b="1" dirty="0"/>
          </a:p>
        </p:txBody>
      </p:sp>
      <p:pic>
        <p:nvPicPr>
          <p:cNvPr id="5" name="Picture 4">
            <a:extLst>
              <a:ext uri="{FF2B5EF4-FFF2-40B4-BE49-F238E27FC236}">
                <a16:creationId xmlns:a16="http://schemas.microsoft.com/office/drawing/2014/main" id="{51B9D2B8-656C-4739-8966-D97F8432FD23}"/>
              </a:ext>
            </a:extLst>
          </p:cNvPr>
          <p:cNvPicPr>
            <a:picLocks noChangeAspect="1"/>
          </p:cNvPicPr>
          <p:nvPr/>
        </p:nvPicPr>
        <p:blipFill>
          <a:blip r:embed="rId2"/>
          <a:stretch>
            <a:fillRect/>
          </a:stretch>
        </p:blipFill>
        <p:spPr>
          <a:xfrm>
            <a:off x="0" y="914400"/>
            <a:ext cx="9144000" cy="5212163"/>
          </a:xfrm>
          <a:prstGeom prst="rect">
            <a:avLst/>
          </a:prstGeom>
        </p:spPr>
      </p:pic>
      <p:pic>
        <p:nvPicPr>
          <p:cNvPr id="4" name="Picture 3">
            <a:extLst>
              <a:ext uri="{FF2B5EF4-FFF2-40B4-BE49-F238E27FC236}">
                <a16:creationId xmlns:a16="http://schemas.microsoft.com/office/drawing/2014/main" id="{33588238-1A49-FAE4-603D-6701365AF294}"/>
              </a:ext>
            </a:extLst>
          </p:cNvPr>
          <p:cNvPicPr>
            <a:picLocks noChangeAspect="1"/>
          </p:cNvPicPr>
          <p:nvPr/>
        </p:nvPicPr>
        <p:blipFill>
          <a:blip r:embed="rId3"/>
          <a:stretch>
            <a:fillRect/>
          </a:stretch>
        </p:blipFill>
        <p:spPr>
          <a:xfrm>
            <a:off x="190500" y="1047417"/>
            <a:ext cx="8686372" cy="5335610"/>
          </a:xfrm>
          <a:prstGeom prst="rect">
            <a:avLst/>
          </a:prstGeom>
        </p:spPr>
      </p:pic>
    </p:spTree>
    <p:extLst>
      <p:ext uri="{BB962C8B-B14F-4D97-AF65-F5344CB8AC3E}">
        <p14:creationId xmlns:p14="http://schemas.microsoft.com/office/powerpoint/2010/main" val="85751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9F3F-40CD-3200-F84E-173D34A7F1A8}"/>
              </a:ext>
            </a:extLst>
          </p:cNvPr>
          <p:cNvSpPr>
            <a:spLocks noGrp="1"/>
          </p:cNvSpPr>
          <p:nvPr>
            <p:ph type="title"/>
          </p:nvPr>
        </p:nvSpPr>
        <p:spPr/>
        <p:txBody>
          <a:bodyPr>
            <a:noAutofit/>
          </a:bodyPr>
          <a:lstStyle/>
          <a:p>
            <a:r>
              <a:rPr lang="en-US" sz="5400" b="1" dirty="0"/>
              <a:t>P</a:t>
            </a:r>
            <a:r>
              <a:rPr lang="en-IN" sz="5400" b="1" dirty="0" err="1"/>
              <a:t>roject</a:t>
            </a:r>
            <a:r>
              <a:rPr lang="en-IN" sz="5400" b="1" dirty="0"/>
              <a:t> Modules</a:t>
            </a:r>
          </a:p>
        </p:txBody>
      </p:sp>
      <p:sp>
        <p:nvSpPr>
          <p:cNvPr id="3" name="Text Placeholder 2">
            <a:extLst>
              <a:ext uri="{FF2B5EF4-FFF2-40B4-BE49-F238E27FC236}">
                <a16:creationId xmlns:a16="http://schemas.microsoft.com/office/drawing/2014/main" id="{F869BB9B-BE99-4E88-EE30-E62CBF1A6894}"/>
              </a:ext>
            </a:extLst>
          </p:cNvPr>
          <p:cNvSpPr>
            <a:spLocks noGrp="1"/>
          </p:cNvSpPr>
          <p:nvPr>
            <p:ph type="body" idx="1"/>
          </p:nvPr>
        </p:nvSpPr>
        <p:spPr/>
        <p:txBody>
          <a:bodyPr/>
          <a:lstStyle/>
          <a:p>
            <a:pPr marL="76200" indent="0">
              <a:buNone/>
            </a:pPr>
            <a:r>
              <a:rPr lang="en-IN" dirty="0"/>
              <a:t>Training Module :</a:t>
            </a:r>
          </a:p>
          <a:p>
            <a:pPr marL="76200" indent="0" algn="just">
              <a:buNone/>
            </a:pPr>
            <a:r>
              <a:rPr lang="en-US" dirty="0"/>
              <a:t>	The training module is responsible for preparing the dataset and enhancing the chatbot's ability to understand and respond to user queries effectively. It includes data preprocessing, vectorization, and the implementation of text-matching </a:t>
            </a:r>
            <a:r>
              <a:rPr lang="en-US" dirty="0" err="1"/>
              <a:t>algorithms.The</a:t>
            </a:r>
            <a:r>
              <a:rPr lang="en-US" dirty="0"/>
              <a:t> model learns by comparing its answers to correct ones and adjusting until it improves. It is then tested with new data to ensure accuracy. This component involves loading the dataset containing information about various government schemes. The dataset includes columns such as 'Scheme Name', 'Description', 'Eligibility Criteria', and 'Benefits</a:t>
            </a:r>
            <a:endParaRPr lang="en-IN" dirty="0"/>
          </a:p>
          <a:p>
            <a:endParaRPr lang="en-IN" dirty="0"/>
          </a:p>
        </p:txBody>
      </p:sp>
    </p:spTree>
    <p:extLst>
      <p:ext uri="{BB962C8B-B14F-4D97-AF65-F5344CB8AC3E}">
        <p14:creationId xmlns:p14="http://schemas.microsoft.com/office/powerpoint/2010/main" val="52377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E24F-43E7-4DF6-8CCC-588170227902}"/>
              </a:ext>
            </a:extLst>
          </p:cNvPr>
          <p:cNvSpPr>
            <a:spLocks noGrp="1"/>
          </p:cNvSpPr>
          <p:nvPr>
            <p:ph type="title"/>
          </p:nvPr>
        </p:nvSpPr>
        <p:spPr/>
        <p:txBody>
          <a:bodyPr>
            <a:noAutofit/>
          </a:bodyPr>
          <a:lstStyle/>
          <a:p>
            <a:r>
              <a:rPr lang="en-US" sz="5400" b="1" dirty="0"/>
              <a:t>Project Modules</a:t>
            </a:r>
            <a:endParaRPr lang="en-IN" sz="5400" b="1" dirty="0"/>
          </a:p>
        </p:txBody>
      </p:sp>
      <p:sp>
        <p:nvSpPr>
          <p:cNvPr id="3" name="Text Placeholder 2">
            <a:extLst>
              <a:ext uri="{FF2B5EF4-FFF2-40B4-BE49-F238E27FC236}">
                <a16:creationId xmlns:a16="http://schemas.microsoft.com/office/drawing/2014/main" id="{B2BE51B8-D4C1-45DE-A709-66034A30853D}"/>
              </a:ext>
            </a:extLst>
          </p:cNvPr>
          <p:cNvSpPr>
            <a:spLocks noGrp="1"/>
          </p:cNvSpPr>
          <p:nvPr>
            <p:ph type="body" idx="1"/>
          </p:nvPr>
        </p:nvSpPr>
        <p:spPr/>
        <p:txBody>
          <a:bodyPr/>
          <a:lstStyle/>
          <a:p>
            <a:pPr marL="76200" indent="0">
              <a:buNone/>
            </a:pPr>
            <a:r>
              <a:rPr lang="en-IN" dirty="0"/>
              <a:t>Chat Module :</a:t>
            </a:r>
          </a:p>
          <a:p>
            <a:pPr marL="76200" indent="0" algn="just">
              <a:buNone/>
            </a:pPr>
            <a:r>
              <a:rPr lang="en-US" dirty="0"/>
              <a:t>	The chat module provides an interactive interface for users to query and receive recommendations on government schemes. It handles user interactions, processes queries, and displays </a:t>
            </a:r>
            <a:r>
              <a:rPr lang="en-US" dirty="0" err="1"/>
              <a:t>results.Built</a:t>
            </a:r>
            <a:r>
              <a:rPr lang="en-US" dirty="0"/>
              <a:t> using the </a:t>
            </a:r>
            <a:r>
              <a:rPr lang="en-US" dirty="0" err="1"/>
              <a:t>Tkinter</a:t>
            </a:r>
            <a:r>
              <a:rPr lang="en-US" dirty="0"/>
              <a:t> library, the GUI includes text entry fields for user queries, buttons for submitting queries, and an area for displaying </a:t>
            </a:r>
            <a:r>
              <a:rPr lang="en-US" dirty="0" err="1"/>
              <a:t>results.This</a:t>
            </a:r>
            <a:r>
              <a:rPr lang="en-US" dirty="0"/>
              <a:t> function captures user input, processes it, and displays a list of matching scheme </a:t>
            </a:r>
            <a:r>
              <a:rPr lang="en-US" dirty="0" err="1"/>
              <a:t>names.This</a:t>
            </a:r>
            <a:r>
              <a:rPr lang="en-US" dirty="0"/>
              <a:t> function takes the scheme name provided by the user and displays the detailed information about the selected scheme..</a:t>
            </a:r>
            <a:endParaRPr lang="en-IN" dirty="0"/>
          </a:p>
        </p:txBody>
      </p:sp>
    </p:spTree>
    <p:extLst>
      <p:ext uri="{BB962C8B-B14F-4D97-AF65-F5344CB8AC3E}">
        <p14:creationId xmlns:p14="http://schemas.microsoft.com/office/powerpoint/2010/main" val="2798268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E21E-91D1-4A68-B4CA-93B41D6652FB}"/>
              </a:ext>
            </a:extLst>
          </p:cNvPr>
          <p:cNvSpPr>
            <a:spLocks noGrp="1"/>
          </p:cNvSpPr>
          <p:nvPr>
            <p:ph type="title"/>
          </p:nvPr>
        </p:nvSpPr>
        <p:spPr/>
        <p:txBody>
          <a:bodyPr>
            <a:noAutofit/>
          </a:bodyPr>
          <a:lstStyle/>
          <a:p>
            <a:r>
              <a:rPr lang="en-US" sz="5400" b="1" dirty="0"/>
              <a:t>Output</a:t>
            </a:r>
            <a:endParaRPr lang="en-IN" sz="5400" b="1" dirty="0"/>
          </a:p>
        </p:txBody>
      </p:sp>
      <p:pic>
        <p:nvPicPr>
          <p:cNvPr id="5" name="Picture 4">
            <a:extLst>
              <a:ext uri="{FF2B5EF4-FFF2-40B4-BE49-F238E27FC236}">
                <a16:creationId xmlns:a16="http://schemas.microsoft.com/office/drawing/2014/main" id="{5834493C-C252-4278-9CA6-2D39B316715E}"/>
              </a:ext>
            </a:extLst>
          </p:cNvPr>
          <p:cNvPicPr>
            <a:picLocks noChangeAspect="1"/>
          </p:cNvPicPr>
          <p:nvPr/>
        </p:nvPicPr>
        <p:blipFill>
          <a:blip r:embed="rId2"/>
          <a:stretch>
            <a:fillRect/>
          </a:stretch>
        </p:blipFill>
        <p:spPr>
          <a:xfrm>
            <a:off x="237744" y="1417659"/>
            <a:ext cx="8668512" cy="4339674"/>
          </a:xfrm>
          <a:prstGeom prst="rect">
            <a:avLst/>
          </a:prstGeom>
        </p:spPr>
      </p:pic>
      <p:pic>
        <p:nvPicPr>
          <p:cNvPr id="3" name="Picture 2">
            <a:extLst>
              <a:ext uri="{FF2B5EF4-FFF2-40B4-BE49-F238E27FC236}">
                <a16:creationId xmlns:a16="http://schemas.microsoft.com/office/drawing/2014/main" id="{F189DB37-F440-8194-3E81-41ABEFED23B7}"/>
              </a:ext>
            </a:extLst>
          </p:cNvPr>
          <p:cNvPicPr>
            <a:picLocks noChangeAspect="1"/>
          </p:cNvPicPr>
          <p:nvPr/>
        </p:nvPicPr>
        <p:blipFill>
          <a:blip r:embed="rId3"/>
          <a:stretch>
            <a:fillRect/>
          </a:stretch>
        </p:blipFill>
        <p:spPr>
          <a:xfrm>
            <a:off x="237744" y="1267911"/>
            <a:ext cx="8710735" cy="4801948"/>
          </a:xfrm>
          <a:prstGeom prst="rect">
            <a:avLst/>
          </a:prstGeom>
        </p:spPr>
      </p:pic>
    </p:spTree>
    <p:extLst>
      <p:ext uri="{BB962C8B-B14F-4D97-AF65-F5344CB8AC3E}">
        <p14:creationId xmlns:p14="http://schemas.microsoft.com/office/powerpoint/2010/main" val="1117154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CCC4-0E52-CA7A-11A8-6204F6C207DE}"/>
              </a:ext>
            </a:extLst>
          </p:cNvPr>
          <p:cNvSpPr>
            <a:spLocks noGrp="1"/>
          </p:cNvSpPr>
          <p:nvPr>
            <p:ph type="title"/>
          </p:nvPr>
        </p:nvSpPr>
        <p:spPr/>
        <p:txBody>
          <a:bodyPr/>
          <a:lstStyle/>
          <a:p>
            <a:r>
              <a:rPr lang="en-IN" dirty="0"/>
              <a:t>OUTPUT</a:t>
            </a:r>
          </a:p>
        </p:txBody>
      </p:sp>
      <p:sp>
        <p:nvSpPr>
          <p:cNvPr id="3" name="Text Placeholder 2">
            <a:extLst>
              <a:ext uri="{FF2B5EF4-FFF2-40B4-BE49-F238E27FC236}">
                <a16:creationId xmlns:a16="http://schemas.microsoft.com/office/drawing/2014/main" id="{447BB5F3-C845-34A4-BCE0-3B0F7D554343}"/>
              </a:ext>
            </a:extLst>
          </p:cNvPr>
          <p:cNvSpPr>
            <a:spLocks noGrp="1"/>
          </p:cNvSpPr>
          <p:nvPr>
            <p:ph type="body" idx="1"/>
          </p:nvPr>
        </p:nvSpPr>
        <p:spPr/>
        <p:txBody>
          <a:bodyPr/>
          <a:lstStyle/>
          <a:p>
            <a:endParaRPr lang="en-IN" dirty="0"/>
          </a:p>
        </p:txBody>
      </p:sp>
      <p:pic>
        <p:nvPicPr>
          <p:cNvPr id="5" name="Image 7">
            <a:extLst>
              <a:ext uri="{FF2B5EF4-FFF2-40B4-BE49-F238E27FC236}">
                <a16:creationId xmlns:a16="http://schemas.microsoft.com/office/drawing/2014/main" id="{707EED93-1C4A-F7D3-2AE8-3BA5EBFDB405}"/>
              </a:ext>
            </a:extLst>
          </p:cNvPr>
          <p:cNvPicPr>
            <a:picLocks/>
          </p:cNvPicPr>
          <p:nvPr/>
        </p:nvPicPr>
        <p:blipFill>
          <a:blip r:embed="rId2" cstate="print"/>
          <a:stretch>
            <a:fillRect/>
          </a:stretch>
        </p:blipFill>
        <p:spPr>
          <a:xfrm>
            <a:off x="190501" y="990601"/>
            <a:ext cx="8655548" cy="5225264"/>
          </a:xfrm>
          <a:prstGeom prst="rect">
            <a:avLst/>
          </a:prstGeom>
        </p:spPr>
      </p:pic>
    </p:spTree>
    <p:extLst>
      <p:ext uri="{BB962C8B-B14F-4D97-AF65-F5344CB8AC3E}">
        <p14:creationId xmlns:p14="http://schemas.microsoft.com/office/powerpoint/2010/main" val="111570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59D2-F0BD-4E32-A5C4-EFA704A94E2B}"/>
              </a:ext>
            </a:extLst>
          </p:cNvPr>
          <p:cNvSpPr>
            <a:spLocks noGrp="1"/>
          </p:cNvSpPr>
          <p:nvPr>
            <p:ph type="title"/>
          </p:nvPr>
        </p:nvSpPr>
        <p:spPr/>
        <p:txBody>
          <a:bodyPr>
            <a:noAutofit/>
          </a:bodyPr>
          <a:lstStyle/>
          <a:p>
            <a:r>
              <a:rPr lang="en-US" sz="5400" b="1" dirty="0"/>
              <a:t>Future Enhancements</a:t>
            </a:r>
            <a:endParaRPr lang="en-IN" sz="5400" b="1" dirty="0"/>
          </a:p>
        </p:txBody>
      </p:sp>
      <p:sp>
        <p:nvSpPr>
          <p:cNvPr id="3" name="Text Placeholder 2">
            <a:extLst>
              <a:ext uri="{FF2B5EF4-FFF2-40B4-BE49-F238E27FC236}">
                <a16:creationId xmlns:a16="http://schemas.microsoft.com/office/drawing/2014/main" id="{73BF7E39-BC46-4CAE-AC58-E340E6C7D6DD}"/>
              </a:ext>
            </a:extLst>
          </p:cNvPr>
          <p:cNvSpPr>
            <a:spLocks noGrp="1"/>
          </p:cNvSpPr>
          <p:nvPr>
            <p:ph type="body" idx="1"/>
          </p:nvPr>
        </p:nvSpPr>
        <p:spPr/>
        <p:txBody>
          <a:bodyPr/>
          <a:lstStyle/>
          <a:p>
            <a:r>
              <a:rPr lang="en-US" dirty="0"/>
              <a:t>Our  chatbot can further be enhanced by adding some of the features like </a:t>
            </a:r>
          </a:p>
          <a:p>
            <a:r>
              <a:rPr lang="en-US" dirty="0"/>
              <a:t>Integration with government portals</a:t>
            </a:r>
          </a:p>
          <a:p>
            <a:r>
              <a:rPr lang="en-US" dirty="0"/>
              <a:t>Multi Language support.</a:t>
            </a:r>
          </a:p>
          <a:p>
            <a:r>
              <a:rPr lang="en-US" dirty="0"/>
              <a:t>Integrating with </a:t>
            </a:r>
            <a:r>
              <a:rPr lang="en-US" dirty="0" err="1"/>
              <a:t>chatgpt</a:t>
            </a:r>
            <a:r>
              <a:rPr lang="en-US" dirty="0"/>
              <a:t>.</a:t>
            </a:r>
          </a:p>
          <a:p>
            <a:r>
              <a:rPr lang="en-US" dirty="0"/>
              <a:t>Feedback mechanisms</a:t>
            </a:r>
          </a:p>
          <a:p>
            <a:endParaRPr lang="en-IN" dirty="0"/>
          </a:p>
        </p:txBody>
      </p:sp>
    </p:spTree>
    <p:extLst>
      <p:ext uri="{BB962C8B-B14F-4D97-AF65-F5344CB8AC3E}">
        <p14:creationId xmlns:p14="http://schemas.microsoft.com/office/powerpoint/2010/main" val="3314673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9;p32">
            <a:extLst>
              <a:ext uri="{FF2B5EF4-FFF2-40B4-BE49-F238E27FC236}">
                <a16:creationId xmlns:a16="http://schemas.microsoft.com/office/drawing/2014/main" id="{0B701D15-4639-43A0-82F1-97A979A79D5B}"/>
              </a:ext>
            </a:extLst>
          </p:cNvPr>
          <p:cNvSpPr/>
          <p:nvPr/>
        </p:nvSpPr>
        <p:spPr>
          <a:xfrm>
            <a:off x="1447279" y="2333362"/>
            <a:ext cx="624944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b="1" dirty="0">
                <a:solidFill>
                  <a:schemeClr val="dk1"/>
                </a:solidFill>
                <a:latin typeface="Calibri"/>
                <a:ea typeface="Calibri"/>
                <a:cs typeface="Calibri"/>
                <a:sym typeface="Calibri"/>
              </a:rPr>
              <a:t>Thank You</a:t>
            </a:r>
            <a:endParaRPr b="1" dirty="0"/>
          </a:p>
        </p:txBody>
      </p:sp>
    </p:spTree>
    <p:extLst>
      <p:ext uri="{BB962C8B-B14F-4D97-AF65-F5344CB8AC3E}">
        <p14:creationId xmlns:p14="http://schemas.microsoft.com/office/powerpoint/2010/main" val="27136160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698</Words>
  <Application>Microsoft Office PowerPoint</Application>
  <PresentationFormat>On-screen Show (4:3)</PresentationFormat>
  <Paragraphs>37</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Arial</vt:lpstr>
      <vt:lpstr>Open Sans ExtraBold</vt:lpstr>
      <vt:lpstr>Times New Roman</vt:lpstr>
      <vt:lpstr>Noto Sans Symbols</vt:lpstr>
      <vt:lpstr>Office Theme</vt:lpstr>
      <vt:lpstr>PowerPoint Presentation</vt:lpstr>
      <vt:lpstr>PROBLEM STATEMENT</vt:lpstr>
      <vt:lpstr>Abstract</vt:lpstr>
      <vt:lpstr>Existing System</vt:lpstr>
      <vt:lpstr>Proposed System</vt:lpstr>
      <vt:lpstr>Architecture Diagram</vt:lpstr>
      <vt:lpstr>Project Modules</vt:lpstr>
      <vt:lpstr>Project Modules</vt:lpstr>
      <vt:lpstr>Output</vt:lpstr>
      <vt:lpstr>OUTPUT</vt:lpstr>
      <vt:lpstr>Future Enhancements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DIVYA SRI S J</dc:creator>
  <cp:lastModifiedBy>VELAYUTHAM SUBRAMANIAN</cp:lastModifiedBy>
  <cp:revision>25</cp:revision>
  <dcterms:modified xsi:type="dcterms:W3CDTF">2024-05-20T05:34:52Z</dcterms:modified>
</cp:coreProperties>
</file>